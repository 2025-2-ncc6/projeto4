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99" autoAdjust="0"/>
    <p:restoredTop sz="94660"/>
  </p:normalViewPr>
  <p:slideViewPr>
    <p:cSldViewPr>
      <p:cViewPr>
        <p:scale>
          <a:sx n="33" d="100"/>
          <a:sy n="33" d="100"/>
        </p:scale>
        <p:origin x="1500" y="-3150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g"/><Relationship Id="rId20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jpg"/><Relationship Id="rId10" Type="http://schemas.openxmlformats.org/officeDocument/2006/relationships/image" Target="../media/image8.png"/><Relationship Id="rId19" Type="http://schemas.openxmlformats.org/officeDocument/2006/relationships/image" Target="../media/image17.jp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9270594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Marco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Antonio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de Oliveira Junior; Pedro Henrique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Dangelo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dos Reis; Rafael Ferreira; Ruan Paulo; Yasmin Ribeiro;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99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O projeto foi desenvolvido por uma equipe de alunos do curso de Ciência da Computação, que uniu conhecimentos de </a:t>
            </a:r>
            <a:r>
              <a:rPr lang="pt-BR" sz="2400" b="1" dirty="0"/>
              <a:t>automação, programação, análise de dados e sustentabilidade, </a:t>
            </a:r>
            <a:r>
              <a:rPr lang="pt-BR" sz="2400" dirty="0"/>
              <a:t>atuando de colaborativa, priorizando inovação e o impacto ambiental positivo do projeto:</a:t>
            </a:r>
          </a:p>
          <a:p>
            <a:endParaRPr lang="pt-BR" sz="2400" dirty="0"/>
          </a:p>
          <a:p>
            <a:r>
              <a:rPr lang="pt-BR" sz="2400" b="1" dirty="0"/>
              <a:t>Yasmin Ribeiro</a:t>
            </a:r>
            <a:r>
              <a:rPr lang="pt-BR" sz="2400" dirty="0"/>
              <a:t> – responsável pela modelagem do sistema, integração de sensores e desenvolvimento da lógica de controle.</a:t>
            </a:r>
          </a:p>
          <a:p>
            <a:r>
              <a:rPr lang="pt-BR" sz="2400" b="1" dirty="0"/>
              <a:t>Ruan Paulo</a:t>
            </a:r>
            <a:r>
              <a:rPr lang="pt-BR" sz="2400" dirty="0"/>
              <a:t>– foco em pesquisa de sustentabilidade, design de interface e relatórios ESG.</a:t>
            </a:r>
          </a:p>
          <a:p>
            <a:r>
              <a:rPr lang="pt-BR" sz="2400" b="1" dirty="0"/>
              <a:t>Pedro Henrique</a:t>
            </a:r>
            <a:r>
              <a:rPr lang="pt-BR" sz="2400" dirty="0"/>
              <a:t> – desenvolvimento da plataforma de monitoramento e integração com o banco de dados.</a:t>
            </a:r>
          </a:p>
          <a:p>
            <a:r>
              <a:rPr lang="pt-BR" sz="2400" b="1" dirty="0"/>
              <a:t>Marco </a:t>
            </a:r>
            <a:r>
              <a:rPr lang="pt-BR" sz="2400" b="1" dirty="0" err="1"/>
              <a:t>Antonio</a:t>
            </a:r>
            <a:r>
              <a:rPr lang="pt-BR" sz="2400" dirty="0"/>
              <a:t> – responsável pela infraestrutura técnica, montagem de circuitos e testes com o DBX-MIO.</a:t>
            </a:r>
          </a:p>
          <a:p>
            <a:r>
              <a:rPr lang="pt-BR" sz="2400" b="1" dirty="0"/>
              <a:t>Rafael Ferreira</a:t>
            </a:r>
            <a:r>
              <a:rPr lang="pt-BR" sz="2400" dirty="0"/>
              <a:t>– responsável pelos testes de campo, validação de sensores e documentação técnica.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 err="1"/>
              <a:t>EnerSave</a:t>
            </a:r>
            <a:endParaRPr lang="pt-BR" sz="5866" b="1" dirty="0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202X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5303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O alto consumo de energia elétrica em instituições de ensino e empresas representa um desafio crescente, tanto financeiro quanto ambiental. Ambientes como salas de aula e escritórios frequentemente permanecem com luzes, ar-condicionado e equipamentos ligados sem necessidade, gerando desperdício e custos operacionais elevados. Além disso, a falta de monitoramento em tempo real impede uma gestão eficiente dos recursos.</a:t>
            </a:r>
            <a:br>
              <a:rPr lang="pt-BR" sz="2400" dirty="0"/>
            </a:br>
            <a:r>
              <a:rPr lang="pt-BR" sz="2400" dirty="0"/>
              <a:t>Estudos recentes indicam que a automação predial inteligente pode reduzir o consumo energético em até 30%, contribuindo diretamente para os </a:t>
            </a:r>
            <a:r>
              <a:rPr lang="pt-BR" sz="2400" b="1" dirty="0"/>
              <a:t>Objetivos de Desenvolvimento Sustentável (ODS), </a:t>
            </a:r>
            <a:r>
              <a:rPr lang="pt-BR" sz="2400" dirty="0"/>
              <a:t>principalmente o </a:t>
            </a:r>
            <a:r>
              <a:rPr lang="pt-BR" sz="2400" b="1" dirty="0"/>
              <a:t>ODS 7 (Energia Limpa e Acessível) e o ODS 13 (Ação Contra a Mudança Global do Clima)</a:t>
            </a:r>
            <a:r>
              <a:rPr lang="pt-BR" sz="2400" dirty="0"/>
              <a:t>.</a:t>
            </a:r>
            <a:endParaRPr lang="pt-BR" sz="2400" b="1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7848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O </a:t>
            </a:r>
            <a:r>
              <a:rPr lang="pt-BR" sz="2400" b="1" dirty="0" err="1"/>
              <a:t>EnerSave</a:t>
            </a:r>
            <a:r>
              <a:rPr lang="pt-BR" sz="2400" dirty="0"/>
              <a:t> propõe uma solução de </a:t>
            </a:r>
            <a:r>
              <a:rPr lang="pt-BR" sz="2400" b="1" dirty="0"/>
              <a:t>automação predial inteligente</a:t>
            </a:r>
            <a:r>
              <a:rPr lang="pt-BR" sz="2400" dirty="0"/>
              <a:t> voltada para instituições de ensino e empresas que buscam reduzir o consumo energético e aprimorar a sustentabilidade de suas operações.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O sistema é estruturado em torno do </a:t>
            </a:r>
            <a:r>
              <a:rPr lang="pt-BR" sz="2400" b="1" dirty="0"/>
              <a:t>controlador DBX-MIO</a:t>
            </a:r>
            <a:r>
              <a:rPr lang="pt-BR" sz="2400" dirty="0"/>
              <a:t>, que atua como o </a:t>
            </a:r>
            <a:r>
              <a:rPr lang="pt-BR" sz="2400" b="1" dirty="0"/>
              <a:t>núcleo de processamento e comunicação</a:t>
            </a:r>
            <a:r>
              <a:rPr lang="pt-BR" sz="2400" dirty="0"/>
              <a:t> entre sensores e dispositivos elétricos. Ele recebe dados de sensores de </a:t>
            </a:r>
            <a:r>
              <a:rPr lang="pt-BR" sz="2400" b="1" dirty="0"/>
              <a:t>presença (PIR)</a:t>
            </a:r>
            <a:r>
              <a:rPr lang="pt-BR" sz="2400" dirty="0"/>
              <a:t>, </a:t>
            </a:r>
            <a:r>
              <a:rPr lang="pt-BR" sz="2400" b="1" dirty="0"/>
              <a:t>luminosidade (LDR)</a:t>
            </a:r>
            <a:r>
              <a:rPr lang="pt-BR" sz="2400" dirty="0"/>
              <a:t>, </a:t>
            </a:r>
            <a:r>
              <a:rPr lang="pt-BR" sz="2400" b="1" dirty="0"/>
              <a:t>temperatura e umidade (DHT22)</a:t>
            </a:r>
            <a:r>
              <a:rPr lang="pt-BR" sz="2400" dirty="0"/>
              <a:t> e </a:t>
            </a:r>
            <a:r>
              <a:rPr lang="pt-BR" sz="2400" b="1" dirty="0"/>
              <a:t>consumo elétrico (PZEM-004T)</a:t>
            </a:r>
            <a:r>
              <a:rPr lang="pt-BR" sz="2400" dirty="0"/>
              <a:t>, processando essas informações para </a:t>
            </a:r>
            <a:r>
              <a:rPr lang="pt-BR" sz="2400" b="1" dirty="0"/>
              <a:t>tomar decisões automáticas em tempo real</a:t>
            </a:r>
            <a:r>
              <a:rPr lang="pt-BR" sz="2400" dirty="0"/>
              <a:t>.</a:t>
            </a:r>
          </a:p>
          <a:p>
            <a:r>
              <a:rPr lang="pt-BR" sz="2400" dirty="0"/>
              <a:t>Além disso, o </a:t>
            </a:r>
            <a:r>
              <a:rPr lang="pt-BR" sz="2400" b="1" dirty="0" err="1"/>
              <a:t>EnerSave</a:t>
            </a:r>
            <a:r>
              <a:rPr lang="pt-BR" sz="2400" dirty="0"/>
              <a:t> utiliza </a:t>
            </a:r>
            <a:r>
              <a:rPr lang="pt-BR" sz="2400" b="1" dirty="0"/>
              <a:t>leitores RFID integrados</a:t>
            </a:r>
            <a:r>
              <a:rPr lang="pt-BR" sz="2400" dirty="0"/>
              <a:t>, permitindo que o </a:t>
            </a:r>
            <a:r>
              <a:rPr lang="pt-BR" sz="2400" b="1" dirty="0"/>
              <a:t>ligamento e desligamento dos equipamentos da sala</a:t>
            </a:r>
            <a:r>
              <a:rPr lang="pt-BR" sz="2400" dirty="0"/>
              <a:t> seja feito por meio das </a:t>
            </a:r>
            <a:r>
              <a:rPr lang="pt-BR" sz="2400" b="1" dirty="0"/>
              <a:t>carteirinhas institucionais</a:t>
            </a:r>
            <a:r>
              <a:rPr lang="pt-BR" sz="2400" dirty="0"/>
              <a:t> de alunos e colaboradores. Dessa forma, ao identificar o usuário, o sistema ativa o ambiente e, ao detectar sua saída, desliga os dispositivos automaticamente, evitando desperdício.</a:t>
            </a:r>
            <a:br>
              <a:rPr lang="pt-BR" sz="2400" dirty="0"/>
            </a:br>
            <a:r>
              <a:rPr lang="pt-BR" sz="2400" dirty="0"/>
              <a:t>Durante o uso, o sistema ajusta a intensidade da iluminação conforme a </a:t>
            </a:r>
            <a:r>
              <a:rPr lang="pt-BR" sz="2400" b="1" dirty="0"/>
              <a:t>entrada de luz natural</a:t>
            </a:r>
            <a:r>
              <a:rPr lang="pt-BR" sz="2400" dirty="0"/>
              <a:t>, otimizando o conforto visual e o consumo. </a:t>
            </a:r>
          </a:p>
          <a:p>
            <a:r>
              <a:rPr lang="pt-BR" sz="2400" dirty="0"/>
              <a:t>Todos os dados coletados são enviados para uma </a:t>
            </a:r>
            <a:r>
              <a:rPr lang="pt-BR" sz="2400" b="1" dirty="0"/>
              <a:t>plataforma web de monitoramento</a:t>
            </a:r>
            <a:r>
              <a:rPr lang="pt-BR" sz="2400" dirty="0"/>
              <a:t> desenvolvida pela equipe, que apresenta </a:t>
            </a:r>
            <a:r>
              <a:rPr lang="pt-BR" sz="2400" b="1" dirty="0"/>
              <a:t>dashboards interativos</a:t>
            </a:r>
            <a:r>
              <a:rPr lang="pt-BR" sz="2400" dirty="0"/>
              <a:t> com métricas em tempo real de consumo, economia e emissões evitadas de CO₂.</a:t>
            </a:r>
            <a:br>
              <a:rPr lang="pt-BR" sz="2400" dirty="0"/>
            </a:b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107306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Leonardo Fabris; Victor Rosetti; João </a:t>
            </a:r>
            <a:r>
              <a:rPr lang="pt-BR" sz="2666" b="1" kern="0" dirty="0" err="1"/>
              <a:t>Trencher</a:t>
            </a:r>
            <a:r>
              <a:rPr lang="pt-BR" sz="2666" b="1" kern="0" dirty="0"/>
              <a:t>; </a:t>
            </a:r>
            <a:r>
              <a:rPr lang="pt-BR" sz="2666" b="1" kern="0" dirty="0" err="1"/>
              <a:t>Rodnil</a:t>
            </a:r>
            <a:r>
              <a:rPr lang="pt-BR" sz="2666" b="1" kern="0" dirty="0"/>
              <a:t> da Silva; Lucy Mari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639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800" dirty="0"/>
              <a:t> </a:t>
            </a:r>
            <a:r>
              <a:rPr lang="pt-BR" sz="2400" dirty="0"/>
              <a:t>Nos próximos estágios, o </a:t>
            </a:r>
            <a:r>
              <a:rPr lang="pt-BR" sz="2400" b="1" dirty="0" err="1"/>
              <a:t>EnerSave</a:t>
            </a:r>
            <a:r>
              <a:rPr lang="pt-BR" sz="2400" dirty="0"/>
              <a:t> evoluirá de um protótipo funcional para uma </a:t>
            </a:r>
            <a:r>
              <a:rPr lang="pt-BR" sz="2400" b="1" dirty="0"/>
              <a:t>solução completa de automação energética</a:t>
            </a:r>
            <a:r>
              <a:rPr lang="pt-BR" sz="2400" dirty="0"/>
              <a:t> voltada a instituições de ensino, empresas e organizações públicas. A proposta é transformar o sistema em um produto </a:t>
            </a:r>
            <a:r>
              <a:rPr lang="pt-BR" sz="2400" b="1" dirty="0"/>
              <a:t>escalável, personalizável e comercialmente viável</a:t>
            </a:r>
            <a:r>
              <a:rPr lang="pt-BR" sz="2400" dirty="0"/>
              <a:t>, capaz de se adaptar a diferentes estruturas prediais e níveis de complexidade.</a:t>
            </a:r>
          </a:p>
          <a:p>
            <a:r>
              <a:rPr lang="pt-BR" sz="2400" dirty="0"/>
              <a:t>A expansão do projeto incluirá:</a:t>
            </a:r>
          </a:p>
          <a:p>
            <a:r>
              <a:rPr lang="pt-BR" sz="2400" b="1" dirty="0"/>
              <a:t>Integração com Inteligência Artificial (IA)</a:t>
            </a:r>
            <a:r>
              <a:rPr lang="pt-BR" sz="2400" dirty="0"/>
              <a:t> para prever padrões de uso e ajustar o consumo com base em histórico, clima e horários de pico.</a:t>
            </a:r>
          </a:p>
          <a:p>
            <a:r>
              <a:rPr lang="pt-BR" sz="2400" b="1" dirty="0"/>
              <a:t>Plataforma em nuvem</a:t>
            </a:r>
            <a:r>
              <a:rPr lang="pt-BR" sz="2400" dirty="0"/>
              <a:t> para armazenamento, análise e acesso remoto aos dados de consumo e relatórios ESG.</a:t>
            </a:r>
          </a:p>
          <a:p>
            <a:r>
              <a:rPr lang="pt-BR" sz="2400" b="1" dirty="0"/>
              <a:t>Aplicativo móvel</a:t>
            </a:r>
            <a:r>
              <a:rPr lang="pt-BR" sz="2400" dirty="0"/>
              <a:t> para controle em tempo real, alertas de uso excessivo e relatórios instantâneos de desempenho energético.</a:t>
            </a:r>
          </a:p>
          <a:p>
            <a:r>
              <a:rPr lang="pt-BR" sz="2400" b="1" dirty="0"/>
              <a:t>Módulo de gamificação sustentável</a:t>
            </a:r>
            <a:r>
              <a:rPr lang="pt-BR" sz="2400" dirty="0"/>
              <a:t>, incentivando alunos e funcionários a adotarem boas práticas de economia de energia.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317" y="40386016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164" y="15038899"/>
            <a:ext cx="2361484" cy="236148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13049" y="12254170"/>
            <a:ext cx="2504311" cy="2504311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6091" y="15186140"/>
            <a:ext cx="1969985" cy="1969985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0998" y="12381050"/>
            <a:ext cx="2522099" cy="2522099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1356FB8-9ED6-A85E-476B-90F186519F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48209" y="17121106"/>
            <a:ext cx="18636799" cy="7901193"/>
          </a:xfrm>
          <a:prstGeom prst="rect">
            <a:avLst/>
          </a:prstGeom>
        </p:spPr>
      </p:pic>
      <p:pic>
        <p:nvPicPr>
          <p:cNvPr id="20" name="Imagem 19" descr="Interface gráfica do usuári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462994D2-A2B8-4503-237C-D2D6B50DA8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291" y="11988771"/>
            <a:ext cx="3315172" cy="6394738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302F58B1-9A8C-AE5C-8E3B-7D6BBCF747B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362" y="12317079"/>
            <a:ext cx="2883105" cy="2522099"/>
          </a:xfrm>
          <a:prstGeom prst="rect">
            <a:avLst/>
          </a:prstGeom>
        </p:spPr>
      </p:pic>
      <p:pic>
        <p:nvPicPr>
          <p:cNvPr id="23" name="Imagem 22" descr="Foto em preto e branco">
            <a:extLst>
              <a:ext uri="{FF2B5EF4-FFF2-40B4-BE49-F238E27FC236}">
                <a16:creationId xmlns:a16="http://schemas.microsoft.com/office/drawing/2014/main" id="{AE22F1AB-0C8C-E241-6172-0F9B66F6D98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2215823" y="11782959"/>
            <a:ext cx="3596893" cy="6565551"/>
          </a:xfrm>
          <a:prstGeom prst="rect">
            <a:avLst/>
          </a:prstGeom>
        </p:spPr>
      </p:pic>
      <p:pic>
        <p:nvPicPr>
          <p:cNvPr id="30" name="Imagem 29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A208C827-26DD-5869-5AC4-A2B002DA44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02" y="12036518"/>
            <a:ext cx="3294641" cy="6186638"/>
          </a:xfrm>
          <a:prstGeom prst="rect">
            <a:avLst/>
          </a:prstGeom>
        </p:spPr>
      </p:pic>
      <p:pic>
        <p:nvPicPr>
          <p:cNvPr id="24" name="Imagem 23" descr="Foto em preto e branco">
            <a:extLst>
              <a:ext uri="{FF2B5EF4-FFF2-40B4-BE49-F238E27FC236}">
                <a16:creationId xmlns:a16="http://schemas.microsoft.com/office/drawing/2014/main" id="{DC7931E3-D359-54B2-CCB7-21C930F87A2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6636510" y="11817958"/>
            <a:ext cx="3596893" cy="6565551"/>
          </a:xfrm>
          <a:prstGeom prst="rect">
            <a:avLst/>
          </a:prstGeom>
        </p:spPr>
      </p:pic>
      <p:pic>
        <p:nvPicPr>
          <p:cNvPr id="32" name="Imagem 31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2265EEDC-D155-D1E0-FD9F-8471C1521F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02" y="19284974"/>
            <a:ext cx="3388901" cy="6271234"/>
          </a:xfrm>
          <a:prstGeom prst="rect">
            <a:avLst/>
          </a:prstGeom>
        </p:spPr>
      </p:pic>
      <p:pic>
        <p:nvPicPr>
          <p:cNvPr id="25" name="Imagem 24" descr="Foto em preto e branco">
            <a:extLst>
              <a:ext uri="{FF2B5EF4-FFF2-40B4-BE49-F238E27FC236}">
                <a16:creationId xmlns:a16="http://schemas.microsoft.com/office/drawing/2014/main" id="{4261F934-AEBF-91BF-B4CE-16233BCE047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6636510" y="19140597"/>
            <a:ext cx="3731699" cy="6565551"/>
          </a:xfrm>
          <a:prstGeom prst="rect">
            <a:avLst/>
          </a:prstGeom>
        </p:spPr>
      </p:pic>
      <p:pic>
        <p:nvPicPr>
          <p:cNvPr id="34" name="Imagem 33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3C559142-7400-7A21-9727-317D88028B5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291" y="19254651"/>
            <a:ext cx="3315172" cy="6301557"/>
          </a:xfrm>
          <a:prstGeom prst="rect">
            <a:avLst/>
          </a:prstGeom>
        </p:spPr>
      </p:pic>
      <p:pic>
        <p:nvPicPr>
          <p:cNvPr id="27" name="Imagem 26" descr="Foto em preto e branco">
            <a:extLst>
              <a:ext uri="{FF2B5EF4-FFF2-40B4-BE49-F238E27FC236}">
                <a16:creationId xmlns:a16="http://schemas.microsoft.com/office/drawing/2014/main" id="{1AECD426-23A7-746F-5E78-B745416ED8B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2237339" y="19140597"/>
            <a:ext cx="3596893" cy="6565551"/>
          </a:xfrm>
          <a:prstGeom prst="rect">
            <a:avLst/>
          </a:prstGeom>
        </p:spPr>
      </p:pic>
      <p:pic>
        <p:nvPicPr>
          <p:cNvPr id="38" name="Imagem 37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0ECEA20-92C9-A9DC-CB46-2FEC6D7727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291" y="26904628"/>
            <a:ext cx="3315172" cy="6327468"/>
          </a:xfrm>
          <a:prstGeom prst="rect">
            <a:avLst/>
          </a:prstGeom>
        </p:spPr>
      </p:pic>
      <p:pic>
        <p:nvPicPr>
          <p:cNvPr id="35" name="Imagem 34" descr="Foto em preto e branco">
            <a:extLst>
              <a:ext uri="{FF2B5EF4-FFF2-40B4-BE49-F238E27FC236}">
                <a16:creationId xmlns:a16="http://schemas.microsoft.com/office/drawing/2014/main" id="{413BEBF3-F830-B003-1EB1-634EECE8F8C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2237339" y="26718051"/>
            <a:ext cx="3596893" cy="6565551"/>
          </a:xfrm>
          <a:prstGeom prst="rect">
            <a:avLst/>
          </a:prstGeom>
        </p:spPr>
      </p:pic>
      <p:pic>
        <p:nvPicPr>
          <p:cNvPr id="40" name="Imagem 3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DAD4134-2E23-FB55-43C4-77C277F2D8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311" y="26930154"/>
            <a:ext cx="3388901" cy="6314917"/>
          </a:xfrm>
          <a:prstGeom prst="rect">
            <a:avLst/>
          </a:prstGeom>
        </p:spPr>
      </p:pic>
      <p:pic>
        <p:nvPicPr>
          <p:cNvPr id="36" name="Imagem 35" descr="Foto em preto e branco">
            <a:extLst>
              <a:ext uri="{FF2B5EF4-FFF2-40B4-BE49-F238E27FC236}">
                <a16:creationId xmlns:a16="http://schemas.microsoft.com/office/drawing/2014/main" id="{79CB1DE4-D797-1FAA-0758-C2FE73FDCE7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6771316" y="26718051"/>
            <a:ext cx="3596893" cy="6565551"/>
          </a:xfrm>
          <a:prstGeom prst="rect">
            <a:avLst/>
          </a:prstGeom>
        </p:spPr>
      </p:pic>
      <p:pic>
        <p:nvPicPr>
          <p:cNvPr id="43" name="Imagem 4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0B7F606-E9D7-73D3-4EF4-586DFBF3C2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6056" y="26757674"/>
            <a:ext cx="3338296" cy="6391430"/>
          </a:xfrm>
          <a:prstGeom prst="rect">
            <a:avLst/>
          </a:prstGeom>
        </p:spPr>
      </p:pic>
      <p:pic>
        <p:nvPicPr>
          <p:cNvPr id="41" name="Imagem 40" descr="Foto em preto e branco">
            <a:extLst>
              <a:ext uri="{FF2B5EF4-FFF2-40B4-BE49-F238E27FC236}">
                <a16:creationId xmlns:a16="http://schemas.microsoft.com/office/drawing/2014/main" id="{15CAB4E3-5A14-0BAF-8D9B-02B550DA0F5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6" t="14355" r="31011" b="15567"/>
          <a:stretch>
            <a:fillRect/>
          </a:stretch>
        </p:blipFill>
        <p:spPr>
          <a:xfrm>
            <a:off x="12854707" y="26637868"/>
            <a:ext cx="3596893" cy="656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b98215-eee7-4560-9bfd-bb4e06f311a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FBDBEBE8E3624886015147434F24B2" ma:contentTypeVersion="8" ma:contentTypeDescription="Create a new document." ma:contentTypeScope="" ma:versionID="9afc4311361a9796ba087ad6402aa142">
  <xsd:schema xmlns:xsd="http://www.w3.org/2001/XMLSchema" xmlns:xs="http://www.w3.org/2001/XMLSchema" xmlns:p="http://schemas.microsoft.com/office/2006/metadata/properties" xmlns:ns3="abb98215-eee7-4560-9bfd-bb4e06f311ac" xmlns:ns4="f2d66181-0374-42c1-b3ef-0c552c3b4972" targetNamespace="http://schemas.microsoft.com/office/2006/metadata/properties" ma:root="true" ma:fieldsID="f47694df343836ad93b8b89120f22718" ns3:_="" ns4:_="">
    <xsd:import namespace="abb98215-eee7-4560-9bfd-bb4e06f311ac"/>
    <xsd:import namespace="f2d66181-0374-42c1-b3ef-0c552c3b49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b98215-eee7-4560-9bfd-bb4e06f3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d66181-0374-42c1-b3ef-0c552c3b49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abb98215-eee7-4560-9bfd-bb4e06f311ac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f2d66181-0374-42c1-b3ef-0c552c3b497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12663B-FAAB-4287-9963-FC5FE67863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b98215-eee7-4560-9bfd-bb4e06f311ac"/>
    <ds:schemaRef ds:uri="f2d66181-0374-42c1-b3ef-0c552c3b4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843</TotalTime>
  <Words>684</Words>
  <Application>Microsoft Office PowerPoint</Application>
  <PresentationFormat>Personalizar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EnerSave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Ruan Paulo 23024986</cp:lastModifiedBy>
  <cp:revision>51</cp:revision>
  <dcterms:created xsi:type="dcterms:W3CDTF">2006-11-04T15:46:42Z</dcterms:created>
  <dcterms:modified xsi:type="dcterms:W3CDTF">2025-11-03T20:37:58Z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0x01010017FBDBEBE8E3624886015147434F24B2</vt:lpwstr>
  </property>
</Properties>
</file>